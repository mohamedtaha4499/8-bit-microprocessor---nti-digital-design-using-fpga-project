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5275" y="1843980"/>
            <a:ext cx="11601450" cy="798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187"/>
              </a:lnSpc>
            </a:pPr>
            <a:r>
              <a:rPr sz="5625" b="1" i="0" u="none" dirty="0">
                <a:solidFill>
                  <a:srgbClr val="00FFFF"/>
                </a:solidFill>
                <a:latin typeface="Poppins"/>
              </a:rPr>
              <a:t>8-BIT </a:t>
            </a:r>
            <a:r>
              <a:rPr lang="en-US" sz="5625" b="1" i="0" u="none" dirty="0">
                <a:solidFill>
                  <a:srgbClr val="00FFFF"/>
                </a:solidFill>
                <a:latin typeface="Poppins"/>
              </a:rPr>
              <a:t>Microprocessor</a:t>
            </a:r>
            <a:endParaRPr sz="5625" b="1" i="0" u="none" dirty="0">
              <a:solidFill>
                <a:srgbClr val="00FFFF"/>
              </a:solidFill>
              <a:latin typeface="Poppi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3606105"/>
            <a:ext cx="11049000" cy="407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250" dirty="0">
                <a:solidFill>
                  <a:srgbClr val="FFD700"/>
                </a:solidFill>
                <a:latin typeface="Lato"/>
              </a:rPr>
              <a:t>Digital Design using FPGA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444305"/>
            <a:ext cx="1104900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C0C0C0"/>
                </a:solidFill>
                <a:latin typeface="Lato SemiBold"/>
              </a:rPr>
              <a:t>Supervised by: Eng. Mohamed Salah Abo Shosha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9C521F-0BEC-D83D-94F3-8D193836B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066" y="297049"/>
            <a:ext cx="1206416" cy="5831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CABC37A-9F96-5530-3767-9DA25F728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2940" y="340854"/>
            <a:ext cx="1206416" cy="5914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00" y="2091779"/>
            <a:ext cx="2105026" cy="396031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623" y="2091779"/>
            <a:ext cx="2105027" cy="39603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047" y="2091779"/>
            <a:ext cx="2105027" cy="39603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471" y="2091779"/>
            <a:ext cx="2105027" cy="39603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6206" y="3310979"/>
            <a:ext cx="2210276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 dirty="0">
                <a:solidFill>
                  <a:srgbClr val="00FFFF"/>
                </a:solidFill>
                <a:latin typeface="Poppins SemiBold"/>
              </a:rPr>
              <a:t>Mohamed Taha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2707" y="3323011"/>
            <a:ext cx="221027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 dirty="0">
                <a:solidFill>
                  <a:srgbClr val="00FFFF"/>
                </a:solidFill>
                <a:latin typeface="Poppins SemiBold"/>
              </a:rPr>
              <a:t>Samuel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2537" y="3323011"/>
            <a:ext cx="221027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 dirty="0">
                <a:solidFill>
                  <a:srgbClr val="00FFFF"/>
                </a:solidFill>
                <a:latin typeface="Poppins SemiBold"/>
              </a:rPr>
              <a:t>Haya Mahmoud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0846" y="3323011"/>
            <a:ext cx="221027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 dirty="0">
                <a:solidFill>
                  <a:srgbClr val="00FFFF"/>
                </a:solidFill>
                <a:latin typeface="Poppins SemiBold"/>
              </a:rPr>
              <a:t>Khaled </a:t>
            </a:r>
            <a:r>
              <a:rPr sz="2400" b="0" i="0" u="none" dirty="0" err="1">
                <a:solidFill>
                  <a:srgbClr val="00FFFF"/>
                </a:solidFill>
                <a:latin typeface="Poppins SemiBold"/>
              </a:rPr>
              <a:t>Eldaoudy</a:t>
            </a:r>
            <a:endParaRPr sz="2400" b="0" i="0" u="none" dirty="0">
              <a:solidFill>
                <a:srgbClr val="00FFFF"/>
              </a:solidFill>
              <a:latin typeface="Poppins SemiBold"/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942" y="2501354"/>
            <a:ext cx="457200" cy="523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994" y="2451753"/>
            <a:ext cx="457200" cy="523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6239" y="2451753"/>
            <a:ext cx="457200" cy="523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7384" y="2470369"/>
            <a:ext cx="457200" cy="5238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571500"/>
            <a:ext cx="11601450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125" b="1" i="0" u="none">
                <a:solidFill>
                  <a:srgbClr val="FFFFFF"/>
                </a:solidFill>
                <a:latin typeface="Poppins"/>
              </a:rPr>
              <a:t>Project Team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457325"/>
            <a:ext cx="11049000" cy="1905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3703A58-82B0-90AB-F8BB-AD54311E01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7066" y="297049"/>
            <a:ext cx="1206416" cy="58310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8D6D1EB-8B60-BF3D-122A-45FC6B1D93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82940" y="340854"/>
            <a:ext cx="1206416" cy="591426"/>
          </a:xfrm>
          <a:prstGeom prst="rect">
            <a:avLst/>
          </a:prstGeom>
        </p:spPr>
      </p:pic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CB022364-3125-48CB-B548-A653D18BB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801" y="2078032"/>
            <a:ext cx="2105027" cy="396031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960ECE6-C60B-B987-3EFB-E88E9E32E190}"/>
              </a:ext>
            </a:extLst>
          </p:cNvPr>
          <p:cNvSpPr txBox="1"/>
          <p:nvPr/>
        </p:nvSpPr>
        <p:spPr>
          <a:xfrm>
            <a:off x="9879080" y="3285201"/>
            <a:ext cx="221027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b="0" i="0" u="none" dirty="0">
                <a:solidFill>
                  <a:srgbClr val="00FFFF"/>
                </a:solidFill>
                <a:latin typeface="Poppins SemiBold"/>
              </a:rPr>
              <a:t>Amr Saad</a:t>
            </a:r>
            <a:endParaRPr sz="2400" b="0" i="0" u="none" dirty="0">
              <a:solidFill>
                <a:srgbClr val="00FFFF"/>
              </a:solidFill>
              <a:latin typeface="Poppins SemiBold"/>
            </a:endParaRPr>
          </a:p>
        </p:txBody>
      </p:sp>
      <p:pic>
        <p:nvPicPr>
          <p:cNvPr id="32" name="Picture 31" descr="image.png">
            <a:extLst>
              <a:ext uri="{FF2B5EF4-FFF2-40B4-BE49-F238E27FC236}">
                <a16:creationId xmlns:a16="http://schemas.microsoft.com/office/drawing/2014/main" id="{C905C36A-6A53-759C-8DF6-0D3E01FF32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507718"/>
            <a:ext cx="457200" cy="523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0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2205037"/>
            <a:ext cx="523875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205037"/>
            <a:ext cx="55006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  <a:latin typeface="Poppins SemiBold"/>
              </a:rPr>
              <a:t>What is an Accumulator CPU?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805112"/>
            <a:ext cx="5238750" cy="1097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FFFFFF"/>
                </a:solidFill>
                <a:latin typeface="Lato"/>
              </a:rPr>
              <a:t>It is a minimalist microprocessor architecture where all arithmetic and logical operations center around a single main register called the </a:t>
            </a:r>
            <a:r>
              <a:rPr sz="1800" b="1" i="0" u="none">
                <a:solidFill>
                  <a:srgbClr val="FFFFFF"/>
                </a:solidFill>
                <a:latin typeface="Lato"/>
              </a:rPr>
              <a:t>Accumulator</a:t>
            </a:r>
            <a:r>
              <a:rPr sz="1800" b="0" i="0" u="none">
                <a:solidFill>
                  <a:srgbClr val="FFFFFF"/>
                </a:solidFill>
                <a:latin typeface="Lat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044999"/>
            <a:ext cx="5238750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FFFFFF"/>
                </a:solidFill>
                <a:latin typeface="Lato"/>
              </a:rPr>
              <a:t>Unlike complex Register-to-Register models, this design simplifies the instruction set, reduces control logic overhead, and serves as an excellent foundation for understanding core digital CPU mechanics.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50" y="2243137"/>
            <a:ext cx="5162550" cy="3543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790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125" b="1" i="0" u="none">
                <a:solidFill>
                  <a:srgbClr val="FFC0CB"/>
                </a:solidFill>
                <a:latin typeface="Poppins"/>
              </a:rPr>
              <a:t>Introduction &amp; Concept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E366317-012D-C355-AF4C-729C4E0A2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066" y="297049"/>
            <a:ext cx="1206416" cy="5831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FD023C5-DECA-0012-AE24-FC6651BFFB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2940" y="340854"/>
            <a:ext cx="1206416" cy="5914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14698"/>
            <a:ext cx="5238750" cy="382860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114698"/>
            <a:ext cx="5238750" cy="38286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0583" y="2926109"/>
            <a:ext cx="466058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FFA500"/>
                </a:solidFill>
                <a:latin typeface="Poppins SemiBold"/>
              </a:rPr>
              <a:t>8-Bit Data Width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3526184"/>
            <a:ext cx="4438650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000080"/>
                </a:solidFill>
                <a:latin typeface="Lato"/>
              </a:rPr>
              <a:t>All internal data buses, the Accumulator, and memory words are strictly 8 bits wide, providing a clear and manageable scale for Verilog synthesis and waveform debugging.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0833" y="2514748"/>
            <a:ext cx="466058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FFA500"/>
                </a:solidFill>
                <a:latin typeface="Poppins SemiBold"/>
              </a:rPr>
              <a:t>Clean 8-Bit Instruction Format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3572023"/>
            <a:ext cx="4438650" cy="1828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000080"/>
                </a:solidFill>
                <a:latin typeface="Lato"/>
              </a:rPr>
              <a:t>Every instruction is exactly 8 bits. The first 4 bits represent the </a:t>
            </a:r>
            <a:r>
              <a:rPr sz="1800" b="1" i="0" u="none">
                <a:solidFill>
                  <a:srgbClr val="000080"/>
                </a:solidFill>
                <a:latin typeface="Lato"/>
              </a:rPr>
              <a:t>Opcode</a:t>
            </a:r>
            <a:r>
              <a:rPr sz="1800" b="0" i="0" u="none">
                <a:solidFill>
                  <a:srgbClr val="000080"/>
                </a:solidFill>
                <a:latin typeface="Lato"/>
              </a:rPr>
              <a:t> (the command to execute), and the remaining 4 bits represent the </a:t>
            </a:r>
            <a:r>
              <a:rPr sz="1800" b="1" i="0" u="none">
                <a:solidFill>
                  <a:srgbClr val="000080"/>
                </a:solidFill>
                <a:latin typeface="Lato"/>
              </a:rPr>
              <a:t>Address/Operand</a:t>
            </a:r>
            <a:r>
              <a:rPr sz="1800" b="0" i="0" u="none">
                <a:solidFill>
                  <a:srgbClr val="000080"/>
                </a:solidFill>
                <a:latin typeface="Lato"/>
              </a:rPr>
              <a:t>. Highly deterministic execution!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125" b="1" i="0" u="none">
                <a:solidFill>
                  <a:srgbClr val="000000"/>
                </a:solidFill>
                <a:latin typeface="Poppins"/>
              </a:rPr>
              <a:t>The Architecture &amp; Idea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362075"/>
            <a:ext cx="11049000" cy="28575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A63E60-C59A-6C1E-B07D-5B8755687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066" y="297049"/>
            <a:ext cx="1206416" cy="5831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E2B9A22-BD76-BA32-E83F-9750200E06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2940" y="340854"/>
            <a:ext cx="1206416" cy="5914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3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2205037"/>
            <a:ext cx="361950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1750" y="2109192"/>
            <a:ext cx="55006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FD700"/>
                </a:solidFill>
                <a:latin typeface="Poppins SemiBold"/>
              </a:rPr>
              <a:t>The Heart of the CPU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0" y="2709267"/>
            <a:ext cx="5238750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FFFFFF"/>
                </a:solidFill>
                <a:latin typeface="Lato"/>
              </a:rPr>
              <a:t>The Accumulator is the primary 8-bit register that stores intermediate mathematical results. Every ALU operation inherently reads from and writes back to this specific register.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0" y="4314825"/>
            <a:ext cx="5238750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FFFFFF"/>
                </a:solidFill>
                <a:latin typeface="Lato"/>
              </a:rPr>
              <a:t>Benefit:</a:t>
            </a:r>
            <a:r>
              <a:rPr sz="1800" b="0" i="0" u="none">
                <a:solidFill>
                  <a:srgbClr val="FFFFFF"/>
                </a:solidFill>
                <a:latin typeface="Lato"/>
              </a:rPr>
              <a:t> Drastically simplifies the datapath routing and eliminates the need for complex multiplexers found in multi-register files, completely avoiding Read-After-Write (RAW) data hazards.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325" y="2281237"/>
            <a:ext cx="3467100" cy="3467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1081917"/>
            <a:ext cx="11601450" cy="790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125" b="1" i="0" u="none" dirty="0">
                <a:solidFill>
                  <a:srgbClr val="FFD700"/>
                </a:solidFill>
                <a:latin typeface="Poppins"/>
              </a:rPr>
              <a:t>Component 1: The Accumulator (ACC)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E889F6-EFAB-CCDC-31AF-F79ED2DAA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066" y="114141"/>
            <a:ext cx="1206416" cy="5831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85917C0-DF7F-E32E-0E6A-3E5B411610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2940" y="157946"/>
            <a:ext cx="1206416" cy="5914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2657475"/>
            <a:ext cx="523875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657475"/>
            <a:ext cx="55006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C0C0C0"/>
                </a:solidFill>
                <a:latin typeface="Poppins SemiBold"/>
              </a:rPr>
              <a:t>Mathematical Execution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57550"/>
            <a:ext cx="5238750" cy="1097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C0C0C0"/>
                </a:solidFill>
                <a:latin typeface="Lato"/>
              </a:rPr>
              <a:t>The ALU executes the core mathematical and logical instructions decoded from the software, such as </a:t>
            </a:r>
            <a:r>
              <a:rPr sz="1800" b="1" i="0" u="none">
                <a:solidFill>
                  <a:srgbClr val="00FFFF"/>
                </a:solidFill>
                <a:latin typeface="Lato"/>
              </a:rPr>
              <a:t>ADD</a:t>
            </a:r>
            <a:r>
              <a:rPr sz="1800" b="0" i="0" u="none">
                <a:solidFill>
                  <a:srgbClr val="C0C0C0"/>
                </a:solidFill>
                <a:latin typeface="Lato"/>
              </a:rPr>
              <a:t>, </a:t>
            </a:r>
            <a:r>
              <a:rPr sz="1800" b="1" i="0" u="none">
                <a:solidFill>
                  <a:srgbClr val="00FFFF"/>
                </a:solidFill>
                <a:latin typeface="Lato"/>
              </a:rPr>
              <a:t>SUB</a:t>
            </a:r>
            <a:r>
              <a:rPr sz="1800" b="0" i="0" u="none">
                <a:solidFill>
                  <a:srgbClr val="C0C0C0"/>
                </a:solidFill>
                <a:latin typeface="Lato"/>
              </a:rPr>
              <a:t>, </a:t>
            </a:r>
            <a:r>
              <a:rPr sz="1800" b="1" i="0" u="none">
                <a:solidFill>
                  <a:srgbClr val="00FFFF"/>
                </a:solidFill>
                <a:latin typeface="Lato"/>
              </a:rPr>
              <a:t>AND</a:t>
            </a:r>
            <a:r>
              <a:rPr sz="1800" b="0" i="0" u="none">
                <a:solidFill>
                  <a:srgbClr val="C0C0C0"/>
                </a:solidFill>
                <a:latin typeface="Lato"/>
              </a:rPr>
              <a:t>, and </a:t>
            </a:r>
            <a:r>
              <a:rPr sz="1800" b="1" i="0" u="none">
                <a:solidFill>
                  <a:srgbClr val="00FFFF"/>
                </a:solidFill>
                <a:latin typeface="Lato"/>
              </a:rPr>
              <a:t>NOT</a:t>
            </a:r>
            <a:r>
              <a:rPr sz="1800" b="0" i="0" u="none">
                <a:solidFill>
                  <a:srgbClr val="C0C0C0"/>
                </a:solidFill>
                <a:latin typeface="Lat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497437"/>
            <a:ext cx="5238750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00FFFF"/>
                </a:solidFill>
                <a:latin typeface="Lato"/>
              </a:rPr>
              <a:t>Benefit:</a:t>
            </a:r>
            <a:r>
              <a:rPr sz="1800" b="0" i="0" u="none">
                <a:solidFill>
                  <a:srgbClr val="C0C0C0"/>
                </a:solidFill>
                <a:latin typeface="Lato"/>
              </a:rPr>
              <a:t> It offloads raw computation from the central control logic. Designed to strictly interact with the Accumulator, ensuring clock-cycle precise data stability.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50" y="2695575"/>
            <a:ext cx="5162550" cy="3543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1152525"/>
            <a:ext cx="1160145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125" b="1" i="0" u="none" dirty="0">
                <a:solidFill>
                  <a:srgbClr val="FFC0CB"/>
                </a:solidFill>
                <a:latin typeface="Poppins"/>
              </a:rPr>
              <a:t>Component 2: Arithmetic Logic Unit (ALU)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2247900"/>
            <a:ext cx="11049000" cy="1905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9D476E-0056-79AC-B5B8-2F30D3145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7066" y="180629"/>
            <a:ext cx="1206416" cy="5831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9C024DB-F169-DC10-C870-C0DEE792DF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2940" y="224434"/>
            <a:ext cx="1206416" cy="5914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97558"/>
            <a:ext cx="3492549" cy="423445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1897558"/>
            <a:ext cx="3492549" cy="42344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1897558"/>
            <a:ext cx="3492549" cy="42344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4220" y="3116758"/>
            <a:ext cx="312710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FFFFFF"/>
                </a:solidFill>
                <a:latin typeface="Poppins SemiBold"/>
              </a:rPr>
              <a:t>Sequential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75" y="4174033"/>
            <a:ext cx="2978199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FFFFFF"/>
                </a:solidFill>
                <a:latin typeface="Lato"/>
              </a:rPr>
              <a:t>An internal counter that holds the memory address of the next instruction to be fetched from RAM/ROM.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2519" y="3116758"/>
            <a:ext cx="312710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FFFFFF"/>
                </a:solidFill>
                <a:latin typeface="Poppins SemiBold"/>
              </a:rPr>
              <a:t>Branching &amp; Jumps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4174033"/>
            <a:ext cx="2978199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FFFFFF"/>
                </a:solidFill>
                <a:latin typeface="Lato"/>
              </a:rPr>
              <a:t>Can be overwritten by the Control Unit to execute jump instructions, altering the flow of the program.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9227" y="3116758"/>
            <a:ext cx="11501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FFFFFF"/>
                </a:solidFill>
                <a:latin typeface="Poppins SemiBold"/>
              </a:rPr>
              <a:t>Benefit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5274" y="3716833"/>
            <a:ext cx="2978199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FFFFFF"/>
                </a:solidFill>
                <a:latin typeface="Lato"/>
              </a:rPr>
              <a:t>Ensures orderly, clock-synchronized program execution without missing or skipping vital software steps.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2425" y="2307133"/>
            <a:ext cx="590550" cy="523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400" y="2307133"/>
            <a:ext cx="457200" cy="523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5699" y="2307133"/>
            <a:ext cx="457200" cy="523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910467"/>
            <a:ext cx="11601450" cy="790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125" b="1" i="0" u="none" dirty="0">
                <a:solidFill>
                  <a:srgbClr val="FFA500"/>
                </a:solidFill>
                <a:latin typeface="Poppins"/>
              </a:rPr>
              <a:t>Component 3: Program Counter (PC)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1A68EC7-5564-50D9-4955-3C4EA53B4D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7066" y="132361"/>
            <a:ext cx="1206416" cy="58310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E51B00-7118-1579-B466-31F3ED826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82940" y="176166"/>
            <a:ext cx="1206416" cy="5914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00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525" y="238125"/>
            <a:ext cx="2276475" cy="6191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5025" y="333375"/>
            <a:ext cx="752475" cy="428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5625" y="333375"/>
            <a:ext cx="904875" cy="428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5550693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125" b="1" i="0" u="none">
                <a:solidFill>
                  <a:srgbClr val="00FFFF"/>
                </a:solidFill>
                <a:latin typeface="Poppins"/>
              </a:rPr>
              <a:t>Component 4: Control Unit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2152650"/>
            <a:ext cx="5286375" cy="19050"/>
          </a:xfrm>
          <a:prstGeom prst="rect">
            <a:avLst/>
          </a:prstGeom>
          <a:solidFill>
            <a:srgbClr val="FFC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2552700"/>
            <a:ext cx="555069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  <a:latin typeface="Poppins SemiBold"/>
              </a:rPr>
              <a:t>The Brain of the 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152775"/>
            <a:ext cx="5286375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E0E0E0"/>
                </a:solidFill>
                <a:latin typeface="Lato"/>
              </a:rPr>
              <a:t>Implemented as a sophisticated combinational decoder (or FSM), it reads the 4-bit Opcode and generates absolute control signals for the entire datapath.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758332"/>
            <a:ext cx="5286375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E0E0E0"/>
                </a:solidFill>
                <a:latin typeface="Lato"/>
              </a:rPr>
              <a:t>Benefit:</a:t>
            </a:r>
            <a:r>
              <a:rPr sz="1800" b="0" i="0" u="none">
                <a:solidFill>
                  <a:srgbClr val="E0E0E0"/>
                </a:solidFill>
                <a:latin typeface="Lato"/>
              </a:rPr>
              <a:t> It seamlessly orchestrates when the ALU calculates, when the PC increments, and when memory is read, bringing the raw logic components to life.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066C15-3962-F0DF-350C-A4146E5800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7066" y="104711"/>
            <a:ext cx="1206416" cy="5831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E71552D-DB26-77D1-0B25-B23DE2C0AC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2940" y="148516"/>
            <a:ext cx="1206416" cy="5914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62348"/>
            <a:ext cx="5238750" cy="333330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2362348"/>
            <a:ext cx="5238750" cy="33333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3450" y="2926109"/>
            <a:ext cx="472059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800080"/>
                </a:solidFill>
                <a:latin typeface="Poppins SemiBold"/>
              </a:rPr>
              <a:t>Instruction &amp; Data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526184"/>
            <a:ext cx="4495800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000000"/>
                </a:solidFill>
                <a:latin typeface="Lato"/>
              </a:rPr>
              <a:t>Accessed via a clean 4-bit address bus. Memory holds the compiled machine code instructions as well as raw data variables required by the CPU operations.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3700" y="2743348"/>
            <a:ext cx="472059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800080"/>
                </a:solidFill>
                <a:latin typeface="Poppins SemiBold"/>
              </a:rPr>
              <a:t>Programmability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3700" y="3343423"/>
            <a:ext cx="4495800" cy="1828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000000"/>
                </a:solidFill>
                <a:latin typeface="Lato"/>
              </a:rPr>
              <a:t>Benefit:</a:t>
            </a:r>
            <a:r>
              <a:rPr sz="1800" b="0" i="0" u="none">
                <a:solidFill>
                  <a:srgbClr val="000000"/>
                </a:solidFill>
                <a:latin typeface="Lato"/>
              </a:rPr>
              <a:t> By separating memory from the execution logic, the CPU becomes a truly programmable device capable of running different software sequences without altering hardware.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040907"/>
            <a:ext cx="11601450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125" b="1" i="0" u="none" dirty="0">
                <a:solidFill>
                  <a:srgbClr val="800080"/>
                </a:solidFill>
                <a:latin typeface="Poppins"/>
              </a:rPr>
              <a:t>Component 5: Memory (RAM/ROM)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2E3FEBB-21D6-89DF-4DC7-AD9D4C5AF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5208" y="132628"/>
            <a:ext cx="1206416" cy="5831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2EF81A-0B9D-8722-7468-52B330809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1082" y="176433"/>
            <a:ext cx="1206416" cy="5914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71500" y="3986212"/>
            <a:ext cx="11049000" cy="57150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7968" y="4348162"/>
            <a:ext cx="266830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0FFFF"/>
                </a:solidFill>
                <a:latin typeface="Poppins SemiBold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891087"/>
            <a:ext cx="254124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0C0C0"/>
                </a:solidFill>
                <a:latin typeface="Lato"/>
              </a:rPr>
              <a:t>Directory Setup</a:t>
            </a:r>
            <a:r>
              <a:t>
</a:t>
            </a:r>
            <a:r>
              <a:rPr sz="1500" b="0" i="0" u="none">
                <a:solidFill>
                  <a:srgbClr val="C0C0C0"/>
                </a:solidFill>
                <a:latin typeface="Lato"/>
              </a:rPr>
              <a:t> (src/ &amp; sim/)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3888" y="2386012"/>
            <a:ext cx="266830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0FFFF"/>
                </a:solidFill>
                <a:latin typeface="Poppins SemiBold"/>
              </a:rP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7419" y="2928937"/>
            <a:ext cx="254124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0C0C0"/>
                </a:solidFill>
                <a:latin typeface="Lato"/>
              </a:rPr>
              <a:t>Code Core Modules</a:t>
            </a:r>
            <a:r>
              <a:t>
</a:t>
            </a:r>
            <a:r>
              <a:rPr sz="1500" b="0" i="0" u="none">
                <a:solidFill>
                  <a:srgbClr val="C0C0C0"/>
                </a:solidFill>
                <a:latin typeface="Lato"/>
              </a:rPr>
              <a:t> (ALU, ACC, PC)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9808" y="4348162"/>
            <a:ext cx="266830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0FFFF"/>
                </a:solidFill>
                <a:latin typeface="Poppins SemiBold"/>
              </a:rPr>
              <a:t>Step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3339" y="4891087"/>
            <a:ext cx="254124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0C0C0"/>
                </a:solidFill>
                <a:latin typeface="Lato"/>
              </a:rPr>
              <a:t>Top-Level Integration</a:t>
            </a:r>
            <a:r>
              <a:t>
</a:t>
            </a:r>
            <a:r>
              <a:rPr sz="1500" b="0" i="0" u="none">
                <a:solidFill>
                  <a:srgbClr val="C0C0C0"/>
                </a:solidFill>
                <a:latin typeface="Lato"/>
              </a:rPr>
              <a:t> &amp; Control 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5728" y="2386012"/>
            <a:ext cx="266830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0FFFF"/>
                </a:solidFill>
                <a:latin typeface="Poppins SemiBold"/>
              </a:rPr>
              <a:t>Step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259" y="2928937"/>
            <a:ext cx="254124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0C0C0"/>
                </a:solidFill>
                <a:latin typeface="Lato"/>
              </a:rPr>
              <a:t>QuestaSim Waveform</a:t>
            </a:r>
            <a:r>
              <a:t>
</a:t>
            </a:r>
            <a:r>
              <a:rPr sz="1500" b="0" i="0" u="none">
                <a:solidFill>
                  <a:srgbClr val="C0C0C0"/>
                </a:solidFill>
                <a:latin typeface="Lato"/>
              </a:rPr>
              <a:t> Verification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18295" y="3890962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47625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54215" y="3890962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47625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90134" y="3890962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47625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26054" y="3890962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47625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790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125" b="1" i="0" u="none">
                <a:solidFill>
                  <a:srgbClr val="FFD700"/>
                </a:solidFill>
                <a:latin typeface="Poppins"/>
              </a:rPr>
              <a:t>Steps of Execution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FDC7F77-0F3A-3D24-C585-C518541B4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066" y="297049"/>
            <a:ext cx="1206416" cy="58310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02180BE-344F-AFF5-8D05-659C749F9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2940" y="340854"/>
            <a:ext cx="1206416" cy="5914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275" y="1762125"/>
            <a:ext cx="11601450" cy="1295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0" b="1" i="0" u="none">
                <a:solidFill>
                  <a:srgbClr val="000000"/>
                </a:solidFill>
                <a:latin typeface="Poppins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248025"/>
            <a:ext cx="11049000" cy="407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2250" b="0" i="0" u="none" dirty="0">
                <a:solidFill>
                  <a:srgbClr val="111111"/>
                </a:solidFill>
                <a:latin typeface="Lato SemiBold"/>
              </a:rPr>
              <a:t>Ready for any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181475"/>
            <a:ext cx="11049000" cy="854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 dirty="0">
                <a:solidFill>
                  <a:srgbClr val="800080"/>
                </a:solidFill>
                <a:latin typeface="Lato"/>
              </a:rPr>
              <a:t>Supervised by: Eng. Mohamed Salah Abo </a:t>
            </a:r>
            <a:r>
              <a:rPr sz="1950" b="1" i="0" u="none" dirty="0" err="1">
                <a:solidFill>
                  <a:srgbClr val="800080"/>
                </a:solidFill>
                <a:latin typeface="Lato"/>
              </a:rPr>
              <a:t>Shosha</a:t>
            </a:r>
            <a:r>
              <a:rPr dirty="0"/>
              <a:t>
</a:t>
            </a:r>
            <a:endParaRPr sz="1950" b="1" i="0" u="none" dirty="0">
              <a:solidFill>
                <a:srgbClr val="800080"/>
              </a:solidFill>
              <a:latin typeface="Lato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298E4B-D247-4C58-A03E-A6BE8304F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066" y="297049"/>
            <a:ext cx="1206416" cy="5831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5BEACC-BE5E-3B55-D2C5-D6D82E889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2940" y="340854"/>
            <a:ext cx="1206416" cy="5914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556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Lato</vt:lpstr>
      <vt:lpstr>Lato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Taha</cp:lastModifiedBy>
  <cp:revision>2</cp:revision>
  <dcterms:created xsi:type="dcterms:W3CDTF">2013-01-27T09:14:16Z</dcterms:created>
  <dcterms:modified xsi:type="dcterms:W3CDTF">2026-09-13T09:26:52Z</dcterms:modified>
  <cp:category/>
</cp:coreProperties>
</file>